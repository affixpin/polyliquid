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G284YPV1cZVAGi2TmbgVLCQtx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D21A34-DBFB-4B1C-9EAE-DD5A6623A26E}">
  <a:tblStyle styleId="{8CD21A34-DBFB-4B1C-9EAE-DD5A6623A2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cc9e91b5c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cc9e91b5c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cc9e91b5c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POLYLIQUID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1488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Decentralized Delegated Reputation Oracle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3017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Инвестиционная презентация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polyliquid.ai  •  Март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ПРОБЛЕМА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Предиктивным рынкам нужны оракулы. Текущие оракулы сломаны.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1280160"/>
            <a:ext cx="384048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UMA (текущий оракул)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187452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Стоимость атаки:</a:t>
            </a:r>
            <a:r>
              <a:rPr b="1" i="0" lang="en-US" sz="2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$750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Сила голоса = количество токенов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Март 2025: манипуляция на $7M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Июль 2025: диспут на $160M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Влияние можно купить мгновенно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46320" y="1280160"/>
            <a:ext cx="3840480" cy="310896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846320" y="1280160"/>
            <a:ext cx="384048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Polyliquid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120640" y="187452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Стоимость атаки:</a:t>
            </a:r>
            <a:r>
              <a:rPr b="1" i="0" lang="en-US" sz="2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$11M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Сила голоса = стейк × репутация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Репутация зарабатывается месяцами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DAO — финальный арбитр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Деньги можно купить. Доверие — нельзя.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В 14,700 раз дороже атаковать Polyliquid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РАЗМЕР РЫНКА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Предиктивные рынки — быстрорастущий сегмент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12801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$44B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19659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Объём предиктивных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рынков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337560" y="1188720"/>
            <a:ext cx="2606040" cy="15544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37560" y="12801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$20B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337560" y="19659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Адресуемый рынок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(субъективные события с консерва</a:t>
            </a:r>
            <a:r>
              <a:rPr lang="en-US" sz="1100">
                <a:solidFill>
                  <a:srgbClr val="64748B"/>
                </a:solidFill>
              </a:rPr>
              <a:t>тивным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прогнозом на 2026 год)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217920" y="128016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$40M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217920" y="19659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Годовые комиссии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(0.2% от объёма)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8FFFE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31520" y="3108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Сегментация рынка Polymarket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" name="Google Shape;66;p3"/>
          <p:cNvGraphicFramePr/>
          <p:nvPr/>
        </p:nvGraphicFramePr>
        <p:xfrm>
          <a:off x="73152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926075"/>
                <a:gridCol w="1097275"/>
                <a:gridCol w="1828800"/>
                <a:gridCol w="18288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Категория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Доля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Тип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Наш рынок?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Спорт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~50%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Объективный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Нет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Крипто-цены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~20%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Chainlink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Нет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Политика, экономика, культура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~30%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Субъективный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ДА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КЛЮЧЕВОЙ ИНСАЙТ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Деньги можно купить мгновенно.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Доверие — нельзя.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0" y="2743200"/>
            <a:ext cx="1828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Влияние = Стейк × Репутация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κ = 1.0 — Sybil-нейтрально: нет стимула ни объединять, ни дробить аккаунты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Репутация = объём капитала, прокрученный без ошибок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Безопасность = NPV карьеры + LP слэш + DAO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КАК ЭТО РАБОТАЕТ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Три шага: делегирование → голосование → диспут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1234440"/>
            <a:ext cx="26060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594360" y="210312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LP делегирует воутеру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94360" y="25603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LP выбирает воутера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 track 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94360" y="3200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Воутер стейкает 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капитал на рынках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94360" y="3840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Комиссия свободная: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5–80%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337560" y="1234440"/>
            <a:ext cx="2606040" cy="32918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337560" y="1234440"/>
            <a:ext cx="26060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474720" y="210312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Воутеры решают рынки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474720" y="25603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Commit-reveal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(голоса вслепую)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474720" y="3200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Вес = Стейк × Rep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474720" y="3840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Консенсус: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50% + 1 очко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217920" y="1234440"/>
            <a:ext cx="2606040" cy="32918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217920" y="1234440"/>
            <a:ext cx="26060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6355080" y="210312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Диспут → DAO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355080" y="25603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Трейдеры оспаривают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бондом 2% от рынка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355080" y="3200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DAO голосует 48ч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55080" y="3840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Атакующий теряет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всё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ФОРМУЛА РЕПУТАЦИИ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Каждый правильный голос добавляет стейк. Старые голоса тают.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R(t) = Σ LP_стейк × 0.995 ^ (дней с голосования)          Потолок = стейк_день / 0.005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Каждый правильный голос добавляет сумму LP стейка к репутации.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Старые голоса тают: −0.5% в день. Полураспад 138 дней.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Потолок при стейке $1M/день: $1M / 0.005 = $200M.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Если воутер перестаёт голосовать — репутация падает вдвое за 138 дней.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Защита от заброшенных аккаунтов и «спящих» воутеров.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Репутация — это объём капитала, прокрученный без ошибок. Её нельзя купить — только заработать.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ВЕС ГОЛОСА И SYBIL-ЗАЩИТА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κ = 1.0: Sybil-нейтрально. Ни одна группа не доминирует.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31520" y="1261872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W = LP_стейк × Rep          κ = 1.0 — линейный, Sybil-нейтральный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7"/>
          <p:cNvGraphicFramePr/>
          <p:nvPr/>
        </p:nvGraphicFramePr>
        <p:xfrm>
          <a:off x="45720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371600"/>
                <a:gridCol w="1005850"/>
                <a:gridCol w="1371600"/>
                <a:gridCol w="1645925"/>
                <a:gridCol w="2834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Воутер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Кол-во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LP стейк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Репутация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Доля веса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Элита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10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$1M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$200M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30%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Топ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40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$100M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30%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Средний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150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$30M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34%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Новичок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800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$1M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6%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Кит без rep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$10M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$0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30/30/34 — ни одна группа не контролирует систему. Кит с $10M без rep = 0% влияния.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СЛЭШИНГ РЕПУТАЦИИ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Ошибся — теряешь репутацию. Проиграл диспут — теряешь всё.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31520" y="1261872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S_rep = 50% × (W_majority − 50%) / 50%          R_new = R × (1 − S_rep)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Пример: элита, rep $200M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8"/>
          <p:cNvGraphicFramePr/>
          <p:nvPr/>
        </p:nvGraphicFramePr>
        <p:xfrm>
          <a:off x="45720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Голосование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Слэш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Rep после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Потеряно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Восстановление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51/49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1%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$198M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$2M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~2 дня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60/40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10%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$180M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$20M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~20 дней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80/20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30%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$140M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$60M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~60 дней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Диспут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100%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$0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$200M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~12 мес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Каскад: rep упала → LP слэш вырос → LP уходит → стейк падает → доход падает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СЛЭШИНГ LP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Два режима: обычная ошибка и диспут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1188720"/>
            <a:ext cx="3840480" cy="6400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40080" y="1234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Обычная ошибка: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LP_slash = 20% / (1 + R / $33.3M)²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846320" y="1188720"/>
            <a:ext cx="3840480" cy="64008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029200" y="1234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При диспуте: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LP_slash = 20% (фиксированный)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9"/>
          <p:cNvGraphicFramePr/>
          <p:nvPr/>
        </p:nvGraphicFramePr>
        <p:xfrm>
          <a:off x="4572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743200"/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Rep воутера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Обычная ошибка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При диспуте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$0 (новичок)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$30M (средний)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5.2%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$100M (топ)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1.25%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$200M (элита)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0.5%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NPV: КАК СЧИТАЕМ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Что происходит с элитным воутером после атаки. Пошаговый разбор.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Исходные данные элитного воутера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LP стейк: $1M  •  Репутация: $200M  •  κ = 1.0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Доля элиты в пуле: 30% (10 элитных × $1M × $200M = 30% общего веса)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Награды из пула: $32M × 30% / 10 элитных = $960K/год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Комиссия воутера: 80% → доход = $768K/год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LP получает 20% = $192K → APY = 19.2% на $1M стейк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После атаки: каскад разрушений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1. DAO отменяет результат R1 → rep атакующих обнуляется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2. Rep = 0 → LP слэш вырастает с 0.5% до 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3. LP видит 20% слэш-риск → немедленно отзывает капитал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4. Без LP нет стейка → нет веса → нет наград → нет дохода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5. Воутер начинает с нуля как новичок. Восстановление: ~12 месяцев.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NPV: ПОМЕСЯЧНЫЙ РАСЧЁТ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Элита. Доход $768K/год. Rep → 0 после атаки.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097275"/>
                <a:gridCol w="1005850"/>
                <a:gridCol w="1005850"/>
                <a:gridCol w="1005850"/>
                <a:gridCol w="4114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Период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Норма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Реальный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Потеря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Что происходит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Месяц 1–3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$192K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$600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$191K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64748B"/>
                          </a:solidFill>
                        </a:rPr>
                        <a:t>Rep = 0. LP ушёл. Стейк мизерный. Вес = ноль. Доход как у случайного новичка.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Месяц 3–6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$192K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C2626"/>
                          </a:solidFill>
                        </a:rPr>
                        <a:t>$5K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$187K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64748B"/>
                          </a:solidFill>
                        </a:rPr>
                        <a:t>Мелкий LP рискнул делегировать ~$50K. Растущий тир. Rep медленно копится. Слэш всё ещё 12%.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Месяц 6–9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$192K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$18K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$174K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64748B"/>
                          </a:solidFill>
                        </a:rPr>
                        <a:t>Средний тир. LP стейк ~$200K. Rep ~$30M. Слэш 5%. LP осторожен — помнит атаку.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Месяц 9–12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$192K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$96K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$96K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64748B"/>
                          </a:solidFill>
                        </a:rPr>
                        <a:t>Ближе к топ-тиру. LP стейк ~$500K. Rep ~$80M. Но до элиты ещё далеко.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ИТОГО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$768K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$120K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$653K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DC2626"/>
                          </a:solidFill>
                        </a:rPr>
                        <a:t>NPV элиты = $653K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FFE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Почему NPV — консервативная оценка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Мы считаем что LP вернётся через 12 месяцев. В реальности: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• Другие воутеры займут долю в пуле. </a:t>
            </a:r>
            <a:endParaRPr sz="1100">
              <a:solidFill>
                <a:srgbClr val="1A1D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• Реальная потеря ≈ $768K+ (вся карьера), не $653K.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СТОИМОСТЬ АТАКИ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Worst case: 5 элитных + 20 топовых аккаунтов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solidFill>
            <a:srgbClr val="F8FFFE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731520" y="1280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NPV по тирам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2"/>
          <p:cNvGraphicFramePr/>
          <p:nvPr/>
        </p:nvGraphicFramePr>
        <p:xfrm>
          <a:off x="7315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280150"/>
                <a:gridCol w="1005850"/>
                <a:gridCol w="1005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Тир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Доход/год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NPV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Элита (80%)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$768K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$653K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Топ (60%)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$144K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$122K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Средний (40%)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$40K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$18K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12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F8FFFE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Атака: 5 элита + 20 топ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2"/>
          <p:cNvGraphicFramePr/>
          <p:nvPr/>
        </p:nvGraphicFramePr>
        <p:xfrm>
          <a:off x="5120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194550"/>
                <a:gridCol w="10972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Компонент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Сумма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NPV: 5×$653K + 20×$122K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$5.71M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LP слэш: 5×$1M + 20×$500K ×20%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$3M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Бонд DAO 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$2M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ИТОГО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</a:rPr>
                        <a:t>$10.71M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12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57200" y="3337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R1 защищает до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57200" y="36118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$11M (99.5% рынков)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846320" y="3291840"/>
            <a:ext cx="3840480" cy="100584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 DAO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846320" y="36118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∞ (любой размер)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Реальная цена атаки выше: координация 25 человек, один отказ = разоблачение всех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ДИСПУТ: ТАЙМЛАЙН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R1 → Окно диспута → DAO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13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743200"/>
                <a:gridCol w="2743200"/>
                <a:gridCol w="274320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Фаза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&lt; $10M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&gt; $10M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Commit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2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2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Reveal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2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2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Окно диспута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4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20 часов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Итого R1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8 часов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24 часа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+ DAO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+ 48ч = 56ч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+ 48ч = 72ч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1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lang="en-US" sz="1800">
                <a:solidFill>
                  <a:srgbClr val="0D9488"/>
                </a:solidFill>
              </a:rPr>
              <a:t>99.5</a:t>
            </a: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% рынков решаются за 8 часов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РАСПРЕДЕЛЕНИЕ СЛЭШЕЙ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Кто прав — тот получает. DAO Polyliquid зарабатывает на безопасности.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14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463050"/>
                <a:gridCol w="2011675"/>
                <a:gridCol w="1554475"/>
                <a:gridCol w="1554475"/>
                <a:gridCol w="16459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Сценарий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Слэши R1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Бонд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Клиент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(Polymarket)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DAO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Polyliquid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Нет диспута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D9488"/>
                          </a:solidFill>
                        </a:rPr>
                        <a:t>→ правым воутерам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DAO = R1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(спам-диспут)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→ </a:t>
                      </a:r>
                      <a:r>
                        <a:rPr lang="en-US" sz="900">
                          <a:solidFill>
                            <a:srgbClr val="1A1D23"/>
                          </a:solidFill>
                        </a:rPr>
                        <a:t>75%</a:t>
                      </a:r>
                      <a:r>
                        <a:rPr lang="en-US" sz="900">
                          <a:solidFill>
                            <a:srgbClr val="1A1D23"/>
                          </a:solidFill>
                        </a:rPr>
                        <a:t>% → правым R1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D23"/>
                          </a:solidFill>
                        </a:rPr>
                        <a:t>100</a:t>
                      </a: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% → клиент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0D9488"/>
                          </a:solidFill>
                        </a:rPr>
                        <a:t>100</a:t>
                      </a: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% бонда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0D9488"/>
                          </a:solidFill>
                        </a:rPr>
                        <a:t>25% слэшей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DAO ≠ R1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D23"/>
                          </a:solidFill>
                        </a:rPr>
                        <a:t>(атака)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50% → правым R1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25% → клиент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25% → DAO PL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D9488"/>
                          </a:solidFill>
                        </a:rPr>
                        <a:t>Возврат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D9488"/>
                          </a:solidFill>
                        </a:rPr>
                        <a:t>диспутерам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25% слэшей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25% слэшей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4"/>
          <p:cNvSpPr/>
          <p:nvPr/>
        </p:nvSpPr>
        <p:spPr>
          <a:xfrm>
            <a:off x="457200" y="3474720"/>
            <a:ext cx="3840480" cy="109728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731525" y="3566150"/>
            <a:ext cx="361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Доход клиента (Polymarket) при атаке на рынок в 100 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731520" y="38862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При спаме: 75% бонда ($1.5M)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При атаке: 25% слэшей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500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846320" y="3474720"/>
            <a:ext cx="384048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5120650" y="3566149"/>
            <a:ext cx="344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D23"/>
                </a:solidFill>
                <a:latin typeface="Calibri"/>
                <a:ea typeface="Calibri"/>
                <a:cs typeface="Calibri"/>
                <a:sym typeface="Calibri"/>
              </a:rPr>
              <a:t>Доход DAO Polyliquid при атаке на рынок 100 млн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120640" y="38862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При спаме: 25%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слэшей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$500K)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При атаке: 25% слэшей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500к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ЭКОНОМИКА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Комиссии воутеров и доходность 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15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1188725"/>
                <a:gridCol w="1188725"/>
                <a:gridCol w="1188725"/>
                <a:gridCol w="1188725"/>
                <a:gridCol w="1188725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Тир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LP стейк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LP слэш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Комиссия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APY LP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Доход воутера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Элита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D9488"/>
                          </a:solidFill>
                        </a:rPr>
                        <a:t>0.5%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80%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15–20%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$768K/год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Топ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1.25%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60%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25–35%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$144K/год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Средний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5.2%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40%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50–70%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$40K/год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Растущий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12.4%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20%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70–100%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$10K/год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Новичок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D23"/>
                          </a:solidFill>
                        </a:rPr>
                        <a:t>$500K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C2626"/>
                          </a:solidFill>
                        </a:rPr>
                        <a:t>20%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5%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100–200%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</a:rPr>
                        <a:t>$1.6K/год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КОНКУРЕНТНОЕ СРАВНЕНИЕ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16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286000"/>
                <a:gridCol w="2743200"/>
                <a:gridCol w="3200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UMA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Polyliquid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Тип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Децентрализованный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Децентрализованный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Стоимость атаки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$750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$11M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Вес голоса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Токены ($)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D23"/>
                          </a:solidFill>
                        </a:rPr>
                        <a:t>Стейк × Rep (κ=1)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Децентрализация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</a:rPr>
                        <a:t>Кит доминирует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30/30/34 баланс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Цикл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~48ч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8–24ч (99%)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Взломы 2025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</a:rPr>
                        <a:t>$7M + $160M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∞ с DAO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Доход клиента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$0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25% слэшей + 75% бондов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ВСЕ ПАРАМЕТРЫ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 параметров. Просто и понятно.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17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{8CD21A34-DBFB-4B1C-9EAE-DD5A6623A26E}</a:tableStyleId>
              </a:tblPr>
              <a:tblGrid>
                <a:gridCol w="2011675"/>
                <a:gridCol w="2103125"/>
                <a:gridCol w="41148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Значение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Что делает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κ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1.0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Линейный вес, Sybil-нейтральный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δ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0.995/день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Затухание rep (полураспад 138 дн)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S_base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50%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Макс слэш репутации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LP_slash_max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Макс LP слэш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LP_slash_dispute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Фикс. слэш при диспуте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π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Доля протокола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Комиссия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Фикс. от объёма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Бонд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2% от рынка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Порог для DAO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MaxPayout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99.9%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Для расчётов безопасности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D23"/>
                          </a:solidFill>
                        </a:rPr>
                        <a:t>Dispute window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4ч / 20ч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</a:rPr>
                        <a:t>&lt; $10M / &gt; $10M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D23"/>
                </a:solidFill>
                <a:latin typeface="Arial Black"/>
                <a:ea typeface="Arial Black"/>
                <a:cs typeface="Arial Black"/>
                <a:sym typeface="Arial Black"/>
              </a:rPr>
              <a:t>ДОРОЖНАЯ КАРТА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От UMA-агрегатора до оракула Polymarket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/>
          <p:nvPr/>
        </p:nvSpPr>
        <p:spPr>
          <a:xfrm>
            <a:off x="320040" y="1143000"/>
            <a:ext cx="1965960" cy="370332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320040" y="1143000"/>
            <a:ext cx="19659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411480" y="12801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ФАЗА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411480" y="15087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UMA Voter 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41148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Q2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411480" y="2148840"/>
            <a:ext cx="1783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Сайт-воутер для UMA.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Воутеры прогоняют голоса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через нас.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Платим x2 от ревардов маркета.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Строим community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и track record.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2514600" y="1143000"/>
            <a:ext cx="1965960" cy="370332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2514600" y="1143000"/>
            <a:ext cx="19659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2606040" y="12801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ФАЗА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2606040" y="15087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Limitless (Base)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260604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000">
                <a:solidFill>
                  <a:srgbClr val="64748B"/>
                </a:solidFill>
              </a:rPr>
              <a:t>2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2606040" y="2148840"/>
            <a:ext cx="1783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Подключаем Limitless на Base.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Субъективные события.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Первый live-клиент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протокола.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Договорённость есть.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709160" y="1143000"/>
            <a:ext cx="1965960" cy="370332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4709160" y="1143000"/>
            <a:ext cx="19659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4800600" y="12801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ФАЗА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800600" y="15087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Prediction Markets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480060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000">
                <a:solidFill>
                  <a:srgbClr val="64748B"/>
                </a:solidFill>
              </a:rPr>
              <a:t>3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4800600" y="2148840"/>
            <a:ext cx="1783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Масштабируемся: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Probabal, Opinion и другие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предиктивные рынки.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Доказываем надёжность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 реальных рынках.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6903720" y="1143000"/>
            <a:ext cx="1965960" cy="370332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6903720" y="1143000"/>
            <a:ext cx="19659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6995160" y="12801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ФАЗА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6995160" y="15087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D23"/>
                </a:solidFill>
                <a:latin typeface="Arial"/>
                <a:ea typeface="Arial"/>
                <a:cs typeface="Arial"/>
                <a:sym typeface="Arial"/>
              </a:rPr>
              <a:t>Polymarket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699516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</a:rPr>
              <a:t>Q4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6995160" y="2148840"/>
            <a:ext cx="1783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Предлагаем заменить UMA.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Мотивация: безопасность.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$750 → $11M стоимость атаки.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DAO защищает рынки &gt; $11M.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50% слэшей → Polymarket.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POLYLIQUID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Деньги можно купить. Доверие — нельзя.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polyliquid.ai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формул  •  11 параметров  •  R1 + DAO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$11M стоимость атаки  •  $750 у UMA  •  14,700× разница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2026-03-03T08:34:46Z</dcterms:created>
  <dc:creator>Polyliquid</dc:creator>
</cp:coreProperties>
</file>